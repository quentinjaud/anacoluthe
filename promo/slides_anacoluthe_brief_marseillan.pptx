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_anacoluthe_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"/>
            <a:ext cx="9997409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62828"/>
                </a:solidFill>
                <a:latin typeface="Merriweather Sans"/>
              </a:rPr>
              <a:t>ANACOLUTHE !?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7569" cy="0"/>
          </a:xfrm>
          <a:prstGeom prst="line">
            <a:avLst/>
          </a:prstGeom>
          <a:ln w="9525">
            <a:solidFill>
              <a:srgbClr val="ECED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55664"/>
            <a:ext cx="11277569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C62828"/>
                </a:solidFill>
                <a:latin typeface="Merriweather Sans"/>
              </a:rPr>
              <a:t>Anacoluthe !? </a:t>
            </a:r>
            <a:r>
              <a:rPr sz="850" b="0" i="0">
                <a:solidFill>
                  <a:srgbClr val="A0A8B5"/>
                </a:solidFill>
                <a:latin typeface="Merriweather Sans"/>
              </a:rPr>
              <a:t>· projet BP de Quentin Jaud (promo BSC)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69" y="6455664"/>
            <a:ext cx="3200400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0A8B5"/>
                </a:solidFill>
                <a:latin typeface="Merriweather Sans"/>
              </a:rPr>
              <a:t>V260529 · CC-BY-NC-SA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569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60120"/>
            <a:ext cx="10765505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066AD"/>
                </a:solidFill>
                <a:latin typeface="Merriweather"/>
              </a:rPr>
              <a:t>🧭  </a:t>
            </a:r>
            <a:r>
              <a:rPr sz="1250" b="1" i="0">
                <a:solidFill>
                  <a:srgbClr val="0066AD"/>
                </a:solidFill>
                <a:latin typeface="Merriweather Sans"/>
              </a:rPr>
              <a:t>FAIRE ÉQUIPAGE, ÇA S'ANIME AUSSI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0728929" cy="10515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D3748"/>
                </a:solidFill>
                <a:latin typeface="Merriweather"/>
              </a:rPr>
              <a:t>En embarqué, tu animes déjà la technique, la nav, la sécu. Le </a:t>
            </a:r>
            <a:r>
              <a:rPr sz="1400" b="1" i="0">
                <a:solidFill>
                  <a:srgbClr val="1E3A5F"/>
                </a:solidFill>
                <a:latin typeface="Merriweather"/>
              </a:rPr>
              <a:t>« faire équipage »</a:t>
            </a:r>
            <a:r>
              <a:rPr sz="1400" b="0" i="0">
                <a:solidFill>
                  <a:srgbClr val="2D3748"/>
                </a:solidFill>
                <a:latin typeface="Merriweather"/>
              </a:rPr>
              <a:t> (accueillir, répartir les rôles, briefer/débriefer, traverser une tension), c'est </a:t>
            </a:r>
            <a:r>
              <a:rPr sz="1400" b="1" i="0">
                <a:solidFill>
                  <a:srgbClr val="1E3A5F"/>
                </a:solidFill>
                <a:latin typeface="Merriweather"/>
              </a:rPr>
              <a:t>l'autre moitié du métier</a:t>
            </a:r>
            <a:r>
              <a:rPr sz="1400" b="0" i="0">
                <a:solidFill>
                  <a:srgbClr val="2D3748"/>
                </a:solidFill>
                <a:latin typeface="Merriweather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77569" cy="141732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91440" cy="1417320"/>
          </a:xfrm>
          <a:prstGeom prst="roundRect">
            <a:avLst>
              <a:gd name="adj" fmla="val 30000"/>
            </a:avLst>
          </a:prstGeom>
          <a:solidFill>
            <a:srgbClr val="3D8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10774649" cy="11887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E3A5F"/>
                </a:solidFill>
                <a:latin typeface="Merriweather"/>
              </a:rPr>
              <a:t>Anacoluthe, c'est un </a:t>
            </a:r>
            <a:r>
              <a:rPr sz="1700" b="1" i="0">
                <a:solidFill>
                  <a:srgbClr val="3D8B87"/>
                </a:solidFill>
                <a:latin typeface="Merriweather"/>
              </a:rPr>
              <a:t>dispositif pédagogique</a:t>
            </a:r>
            <a:r>
              <a:rPr sz="1700" b="1" i="0">
                <a:solidFill>
                  <a:srgbClr val="1E3A5F"/>
                </a:solidFill>
                <a:latin typeface="Merriweather"/>
              </a:rPr>
              <a:t>, un kit déjà à bord, pour t'épauler là-dessus.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D3748"/>
                </a:solidFill>
                <a:latin typeface="Merriweather"/>
              </a:rPr>
              <a:t>Cartes et affiches sont déjà dans ton bateau, rien à aller chercher.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554" y="4617720"/>
            <a:ext cx="22357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554" y="4617720"/>
            <a:ext cx="223570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8B87"/>
                </a:solidFill>
                <a:latin typeface="Merriweather Sans"/>
              </a:rPr>
              <a:t>déjà dans le bateau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9854" y="46177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9854" y="4617720"/>
            <a:ext cx="13716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8B87"/>
                </a:solidFill>
                <a:latin typeface="Merriweather Sans"/>
              </a:rPr>
              <a:t>à la carte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046" y="4617720"/>
            <a:ext cx="22357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046" y="4617720"/>
            <a:ext cx="2235708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8B87"/>
                </a:solidFill>
                <a:latin typeface="Merriweather Sans"/>
              </a:rPr>
              <a:t>ça allège ta charge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6346" y="4617720"/>
            <a:ext cx="21396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6346" y="4617720"/>
            <a:ext cx="2139696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8B87"/>
                </a:solidFill>
                <a:latin typeface="Merriweather Sans"/>
              </a:rPr>
              <a:t>rien d'obligatoire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0634" y="4617720"/>
            <a:ext cx="28117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0634" y="4617720"/>
            <a:ext cx="281178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D8B87"/>
                </a:solidFill>
                <a:latin typeface="Merriweather Sans"/>
              </a:rPr>
              <a:t>tu restes chef·fe de bord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_anacoluthe_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"/>
            <a:ext cx="9997409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62828"/>
                </a:solidFill>
                <a:latin typeface="Merriweather Sans"/>
              </a:rPr>
              <a:t>ANACOLUTHE !?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7569" cy="0"/>
          </a:xfrm>
          <a:prstGeom prst="line">
            <a:avLst/>
          </a:prstGeom>
          <a:ln w="9525">
            <a:solidFill>
              <a:srgbClr val="ECED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55664"/>
            <a:ext cx="11277569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C62828"/>
                </a:solidFill>
                <a:latin typeface="Merriweather Sans"/>
              </a:rPr>
              <a:t>Anacoluthe !? </a:t>
            </a:r>
            <a:r>
              <a:rPr sz="850" b="0" i="0">
                <a:solidFill>
                  <a:srgbClr val="A0A8B5"/>
                </a:solidFill>
                <a:latin typeface="Merriweather Sans"/>
              </a:rPr>
              <a:t>· projet BP de Quentin Jaud (promo BSC)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69" y="6455664"/>
            <a:ext cx="3200400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0A8B5"/>
                </a:solidFill>
                <a:latin typeface="Merriweather Sans"/>
              </a:rPr>
              <a:t>V260529 · CC-BY-NC-SA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24128"/>
            <a:ext cx="11277569" cy="54864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24128"/>
            <a:ext cx="10820369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A30"/>
                </a:solidFill>
                <a:latin typeface="Merriweather Sans"/>
              </a:rPr>
              <a:t>📸  Prends-le en photo : </a:t>
            </a:r>
            <a:r>
              <a:rPr sz="1200" b="0" i="0">
                <a:solidFill>
                  <a:srgbClr val="2D3748"/>
                </a:solidFill>
                <a:latin typeface="Merriweather"/>
              </a:rPr>
              <a:t>ton SOS de poche, à ressortir le moment venu quand ça coince à bord.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19072"/>
          <a:ext cx="11277569" cy="4617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3931920"/>
                <a:gridCol w="364232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erriweather Sans"/>
                        </a:rPr>
                        <a:t>Quand ça coince à bord…</a:t>
                      </a:r>
                    </a:p>
                  </a:txBody>
                  <a:tcPr anchor="ctr" marL="91440" marR="91440" marT="36576" marB="36576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erriweather Sans"/>
                        </a:rPr>
                        <a:t>Tu pioches…</a:t>
                      </a:r>
                    </a:p>
                  </a:txBody>
                  <a:tcPr anchor="ctr" marL="91440" marR="91440" marT="36576" marB="36576"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erriweather Sans"/>
                        </a:rPr>
                        <a:t>Ce que ça débloque</a:t>
                      </a:r>
                    </a:p>
                  </a:txBody>
                  <a:tcPr anchor="ctr" marL="91440" marR="91440" marT="36576" marB="36576">
                    <a:solidFill>
                      <a:srgbClr val="C62828"/>
                    </a:solidFill>
                  </a:tcPr>
                </a:tc>
              </a:tr>
              <a:tr h="8467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L'équipage attend tes consignes pour tout, tu portes l'orga seul·e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2D3748"/>
                          </a:solidFill>
                          <a:latin typeface="Merriweather"/>
                        </a:rPr>
                        <a:t>👥 </a:t>
                      </a:r>
                      <a:r>
                        <a:rPr sz="1000" b="1" i="0">
                          <a:solidFill>
                            <a:srgbClr val="1E3A5F"/>
                          </a:solidFill>
                          <a:latin typeface="Merriweather"/>
                        </a:rPr>
                        <a:t>les rôles tournants</a:t>
                      </a: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 (bosco, nav, second soigneux, cambusier·ère) + le tableau d'équipage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chacun·e prend un domaine du jour, l'équipage s'auto-organise, ta charge baisse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8467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J1, on reste en surface, attentes non dites</a:t>
                      </a:r>
                    </a:p>
                  </a:txBody>
                  <a:tcPr anchor="ctr"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2D3748"/>
                          </a:solidFill>
                          <a:latin typeface="Merriweather"/>
                        </a:rPr>
                        <a:t>🌅 </a:t>
                      </a:r>
                      <a:r>
                        <a:rPr sz="1000" b="1" i="0">
                          <a:solidFill>
                            <a:srgbClr val="1E3A5F"/>
                          </a:solidFill>
                          <a:latin typeface="Merriweather"/>
                        </a:rPr>
                        <a:t>le moment accueil + attentes</a:t>
                      </a: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 (et les accords d'équipage)</a:t>
                      </a:r>
                    </a:p>
                  </a:txBody>
                  <a:tcPr anchor="ctr"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tu sais qui tu as à bord, ton programme colle à leurs envies, des règles co-construites</a:t>
                      </a:r>
                    </a:p>
                  </a:txBody>
                  <a:tcPr anchor="ctr" marL="91440" marR="91440" marT="36576" marB="36576">
                    <a:solidFill>
                      <a:srgbClr val="F8FAFC"/>
                    </a:solidFill>
                  </a:tcPr>
                </a:tc>
              </a:tr>
              <a:tr h="8467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J3-J4, ça frotte, tu deviens l'arbitre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2D3748"/>
                          </a:solidFill>
                          <a:latin typeface="Merriweather"/>
                        </a:rPr>
                        <a:t>🃏 </a:t>
                      </a:r>
                      <a:r>
                        <a:rPr sz="1000" b="1" i="0">
                          <a:solidFill>
                            <a:srgbClr val="1E3A5F"/>
                          </a:solidFill>
                          <a:latin typeface="Merriweather"/>
                        </a:rPr>
                        <a:t>la carte Joker « conflit »</a:t>
                      </a: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 (ou « rediscuter le cadre »)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tu nommes la tension sans la trancher seul·e ; le second soigneux du jour facilite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8467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Mi-semaine ça patine, un·e décroche</a:t>
                      </a:r>
                    </a:p>
                  </a:txBody>
                  <a:tcPr anchor="ctr"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2D3748"/>
                          </a:solidFill>
                          <a:latin typeface="Merriweather"/>
                        </a:rPr>
                        <a:t>⚓ </a:t>
                      </a:r>
                      <a:r>
                        <a:rPr sz="1000" b="1" i="0">
                          <a:solidFill>
                            <a:srgbClr val="1E3A5F"/>
                          </a:solidFill>
                          <a:latin typeface="Merriweather"/>
                        </a:rPr>
                        <a:t>le point mi-parcours</a:t>
                      </a:r>
                    </a:p>
                  </a:txBody>
                  <a:tcPr anchor="ctr" marL="91440" marR="9144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on ajuste avant la dernière ligne droite</a:t>
                      </a:r>
                    </a:p>
                  </a:txBody>
                  <a:tcPr anchor="ctr" marL="91440" marR="91440" marT="36576" marB="36576">
                    <a:solidFill>
                      <a:srgbClr val="F8FAFC"/>
                    </a:solidFill>
                  </a:tcPr>
                </a:tc>
              </a:tr>
              <a:tr h="8467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Le débrief du soir ne parle que technique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2D3748"/>
                          </a:solidFill>
                          <a:latin typeface="Merriweather"/>
                        </a:rPr>
                        <a:t>🌙 </a:t>
                      </a:r>
                      <a:r>
                        <a:rPr sz="1000" b="1" i="0">
                          <a:solidFill>
                            <a:srgbClr val="1E3A5F"/>
                          </a:solidFill>
                          <a:latin typeface="Merriweather"/>
                        </a:rPr>
                        <a:t>5 min « comment on a bossé ensemble »</a:t>
                      </a: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 (+ les 5 piliers)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D3748"/>
                          </a:solidFill>
                          <a:latin typeface="Merriweather"/>
                        </a:rPr>
                        <a:t>les acquis (technique ET humain) deviennent nommables, transférables à terre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_anacoluthe_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"/>
            <a:ext cx="9997409" cy="56692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62828"/>
                </a:solidFill>
                <a:latin typeface="Merriweather Sans"/>
              </a:rPr>
              <a:t>ANACOLUTHE !?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19088"/>
            <a:ext cx="11277569" cy="0"/>
          </a:xfrm>
          <a:prstGeom prst="line">
            <a:avLst/>
          </a:prstGeom>
          <a:ln w="9525">
            <a:solidFill>
              <a:srgbClr val="ECED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55664"/>
            <a:ext cx="11277569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C62828"/>
                </a:solidFill>
                <a:latin typeface="Merriweather Sans"/>
              </a:rPr>
              <a:t>Anacoluthe !? </a:t>
            </a:r>
            <a:r>
              <a:rPr sz="850" b="0" i="0">
                <a:solidFill>
                  <a:srgbClr val="A0A8B5"/>
                </a:solidFill>
                <a:latin typeface="Merriweather Sans"/>
              </a:rPr>
              <a:t>· projet BP de Quentin Jaud (promo BSC)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69" y="6455664"/>
            <a:ext cx="3200400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0A8B5"/>
                </a:solidFill>
                <a:latin typeface="Merriweather Sans"/>
              </a:rPr>
              <a:t>V260529 · CC-BY-NC-SA</a:t>
            </a:r>
          </a:p>
        </p:txBody>
      </p:sp>
      <p:pic>
        <p:nvPicPr>
          <p:cNvPr id="8" name="Picture 7" descr="qrcode_anacoluthe_fil_sema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46120"/>
            <a:ext cx="22402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66AD"/>
                </a:solidFill>
                <a:latin typeface="Merriweather Sans"/>
              </a:rPr>
              <a:t>anacoluthe.org/fil-semaine.html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188720"/>
            <a:ext cx="8762969" cy="210312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051560"/>
            <a:ext cx="569972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D8B87"/>
                </a:solidFill>
                <a:latin typeface="Merriweather"/>
              </a:rPr>
              <a:t>📲  </a:t>
            </a:r>
            <a:r>
              <a:rPr sz="1250" b="1" i="0">
                <a:solidFill>
                  <a:srgbClr val="3D8B87"/>
                </a:solidFill>
                <a:latin typeface="Merriweather Sans"/>
              </a:rPr>
              <a:t>SCANNE LE FIL DE LA SEMAINE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508760"/>
            <a:ext cx="8397209" cy="1691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D3748"/>
                </a:solidFill>
                <a:latin typeface="Merriweather"/>
              </a:rPr>
              <a:t>Le dispositif complet, déroulé </a:t>
            </a:r>
            <a:r>
              <a:rPr sz="1400" b="1" i="0">
                <a:solidFill>
                  <a:srgbClr val="1E3A5F"/>
                </a:solidFill>
                <a:latin typeface="Merriweather"/>
              </a:rPr>
              <a:t>jour par jour (J1 → J6)</a:t>
            </a:r>
            <a:r>
              <a:rPr sz="1400" b="0" i="0">
                <a:solidFill>
                  <a:srgbClr val="2D3748"/>
                </a:solidFill>
                <a:latin typeface="Merriweather"/>
              </a:rPr>
              <a:t> : quel moment animer quand, quelle carte sortir, quoi dire.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D3748"/>
                </a:solidFill>
                <a:latin typeface="Merriweather"/>
              </a:rPr>
              <a:t>👉 Fouille-le </a:t>
            </a:r>
            <a:r>
              <a:rPr sz="1300" b="1" i="0">
                <a:solidFill>
                  <a:srgbClr val="C62828"/>
                </a:solidFill>
                <a:latin typeface="Merriweather"/>
              </a:rPr>
              <a:t>avant l'arrivée des stagiaires</a:t>
            </a:r>
            <a:r>
              <a:rPr sz="1300" b="0" i="0">
                <a:solidFill>
                  <a:srgbClr val="2D3748"/>
                </a:solidFill>
                <a:latin typeface="Merriweather"/>
              </a:rPr>
              <a:t>, sur le créneau du samedi, entre le brief et 13h.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3606789" cy="26974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776472"/>
            <a:ext cx="3277605" cy="23682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3748"/>
                </a:solidFill>
                <a:latin typeface="Merriweather"/>
              </a:rPr>
              <a:t>🎒  </a:t>
            </a:r>
            <a:r>
              <a:rPr sz="1150" b="1" i="0">
                <a:solidFill>
                  <a:srgbClr val="1E3A5F"/>
                </a:solidFill>
                <a:latin typeface="Merriweather Sans"/>
              </a:rPr>
              <a:t>Déjà à bord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Merriweather"/>
              </a:rPr>
              <a:t>Le kit (cartes + affiches plastifiées + guide moniteurice) est déjà dans le bateau.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2589" y="3611880"/>
            <a:ext cx="3606789" cy="2697480"/>
          </a:xfrm>
          <a:prstGeom prst="roundRect">
            <a:avLst>
              <a:gd name="adj" fmla="val 6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181" y="3776472"/>
            <a:ext cx="3277605" cy="23682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3748"/>
                </a:solidFill>
                <a:latin typeface="Merriweather"/>
              </a:rPr>
              <a:t>🛠️  </a:t>
            </a:r>
            <a:r>
              <a:rPr sz="1150" b="1" i="0">
                <a:solidFill>
                  <a:srgbClr val="3D8B87"/>
                </a:solidFill>
                <a:latin typeface="Merriweather Sans"/>
              </a:rPr>
              <a:t>Ateliers vendredi matin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Merriweather"/>
              </a:rPr>
              <a:t>« Animer le faire-équipage » et « Fluidifier la semaine avec Anacoluthe 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979" y="3611880"/>
            <a:ext cx="3606789" cy="269748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571" y="3776472"/>
            <a:ext cx="3277605" cy="23682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D3748"/>
                </a:solidFill>
                <a:latin typeface="Merriweather"/>
              </a:rPr>
              <a:t>💬  </a:t>
            </a:r>
            <a:r>
              <a:rPr sz="1150" b="1" i="0">
                <a:solidFill>
                  <a:srgbClr val="C96A30"/>
                </a:solidFill>
                <a:latin typeface="Merriweather Sans"/>
              </a:rPr>
              <a:t>Communauté WhatsApp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D3748"/>
                </a:solidFill>
                <a:latin typeface="Merriweather"/>
              </a:rPr>
              <a:t>Pour échanger trucs, retours et coups de main entre moniteurices.</a:t>
            </a:r>
          </a:p>
        </p:txBody>
      </p:sp>
      <p:pic>
        <p:nvPicPr>
          <p:cNvPr id="19" name="Picture 18" descr="QRcode_anacoluthe_commu-whats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769" y="512064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